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9" r:id="rId4"/>
    <p:sldId id="260" r:id="rId5"/>
    <p:sldId id="257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8"/>
  </p:normalViewPr>
  <p:slideViewPr>
    <p:cSldViewPr snapToGrid="0">
      <p:cViewPr>
        <p:scale>
          <a:sx n="107" d="100"/>
          <a:sy n="107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6696-C6AB-CBBD-EF7D-2E4EC4172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16D16-46D7-54B3-68CC-6D452EC81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45676-4907-2C85-D7C8-A6118876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3BCE6-E933-6FB0-A45E-27542870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BDA0D-37F1-6054-3AE6-DBDF4732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31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5E9E-C590-E567-5927-127565FE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9DEB6-0A04-6095-30B8-7B998A5EC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0B8F-DAC3-A3BC-67B2-89F02655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6B209-D2E0-0D4E-A86E-AFC59702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17411-520C-3CC4-1971-681C61EA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8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9919-8E3F-B801-98AC-B8BC2E65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48CFA-AE54-D7C6-971A-5B9F55DBE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98E76-29B1-3B73-F046-8A6FC38E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78818-9BB0-C1EF-7D62-4840A574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930D6-3427-89AE-60CF-2744C523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5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EA6D-18DF-C2FF-A650-ADEB875B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1A2C0-C4EF-490E-6F1C-20398AE08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36BAB-EE08-60DB-C382-5886CEE8C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7E58F-628B-3A21-A1F0-07FC67C6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7DECF-0FD4-A763-2A50-7F3074D4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ADFE8-F11B-8F6F-1E33-07B6699C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4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29C91-A336-93C7-A5BD-7C1E5142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6EA50-AA89-6351-41CF-2EC4F7FE8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8D67A-8D6F-DF7A-72CC-B8A433490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039ED6-7D12-C731-51F5-99734D7C7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54BF8-6E10-C8CF-5800-1018BCCCA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F8029A-CB7E-B36C-1723-EEF2CBF9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4EDEB4-220B-AD5D-BBF4-2A867B2E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CCC56-5554-EB7E-D79C-528AC561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1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784B-680C-C229-21B6-239B1F77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FB62A-B749-A943-0F72-7EB800BD8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BC36A-145A-C642-0335-C93998B7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15CDB-0F5B-6FA8-8482-267249F3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9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0ADF1-CA92-B974-B6B9-443C228B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CD02E-1C01-E2C7-C7DA-4FCC3C2E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A2A4C-67AB-C396-3314-DD74D105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4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3F73-C746-1F97-6D96-553990E6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42994-5A89-1E0B-094B-6FD7ADFAA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92991-E6DC-8AB1-8524-2DC4C59CD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721D0-E9E7-B463-1305-E08CC62F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5893B-C534-495C-697D-A224B6E5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19338-218E-46FB-FF12-D73B88E3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2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927D-B1FE-FEAB-B0F8-466D73D44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8162A9-CF51-8310-21EC-CE2DDBBB8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FE700-4B32-91A7-DACB-517B74963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13DBD-C61F-A5F5-DB2F-A7BFD52A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F15F5-F5BD-B9AA-4497-0C61E437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CBD5A-54DC-3106-969C-FD4A6CCF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8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E631-5811-DBC9-AB77-6F7ABBF74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C24AD-E450-5FCD-A539-5B063F85A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CC62E-4B70-735E-79E9-D71AE0AD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6885D-5671-3DF0-27E5-7AA2F249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8B69A-1F44-F338-96EB-F5E08849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5A09BE-E820-20BA-5AFF-F97208831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862BB-C32A-44F4-8D6B-3C5F4BEDE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5AB16-8563-684F-8C36-64AC60C3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0128B-CBBF-4BEA-F881-93E52767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129A8-003A-EEF7-3457-6E47679E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5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B089F-9D86-EF0B-814C-76D9F1737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A0978-A04C-709B-6055-E2EF59A8B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9CEB1-A7F2-7B32-86FF-D5313A712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FFBBE-0E9C-084B-8D92-A2A577D4311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EC356-C156-8138-46BF-6E9C58B9C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874E8-B79C-E342-F184-84F054227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1603A-7F43-454A-9A61-0DD02115A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2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18FC-71DC-127E-CC72-2E1F7E54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96B48-36B6-7969-6DED-F6C7767DA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Cutoff point – percentage of reads</a:t>
            </a:r>
          </a:p>
          <a:p>
            <a:endParaRPr lang="en-US" dirty="0"/>
          </a:p>
          <a:p>
            <a:r>
              <a:rPr lang="en-US" dirty="0"/>
              <a:t>Data to present</a:t>
            </a:r>
          </a:p>
          <a:p>
            <a:endParaRPr lang="en-US" dirty="0"/>
          </a:p>
          <a:p>
            <a:r>
              <a:rPr lang="en-US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07800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4A14AB-4DA9-A38A-60B3-644E1679EA99}"/>
              </a:ext>
            </a:extLst>
          </p:cNvPr>
          <p:cNvSpPr txBox="1"/>
          <p:nvPr/>
        </p:nvSpPr>
        <p:spPr>
          <a:xfrm>
            <a:off x="0" y="0"/>
            <a:ext cx="12192000" cy="774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% Reads  	Num. reads	Classified 	Rank	ID	Taxon</a:t>
            </a:r>
          </a:p>
          <a:p>
            <a:r>
              <a:rPr lang="en-US" sz="800" dirty="0"/>
              <a:t>12.1080	127702	127702	no rank	0	unclassified</a:t>
            </a:r>
          </a:p>
          <a:p>
            <a:r>
              <a:rPr lang="en-US" sz="800" dirty="0"/>
              <a:t>87.8920	926986	0	no rank	1	root</a:t>
            </a:r>
          </a:p>
          <a:p>
            <a:r>
              <a:rPr lang="en-US" sz="800" dirty="0"/>
              <a:t>87.8920	926986	0	cellular root	131567	  cellular organisms</a:t>
            </a:r>
          </a:p>
          <a:p>
            <a:r>
              <a:rPr lang="en-US" sz="800" dirty="0"/>
              <a:t>87.8920	926986	0	domain	2759	    </a:t>
            </a:r>
            <a:r>
              <a:rPr lang="en-US" sz="800" dirty="0" err="1"/>
              <a:t>Eukaryota</a:t>
            </a:r>
            <a:endParaRPr lang="en-US" sz="800" dirty="0"/>
          </a:p>
          <a:p>
            <a:r>
              <a:rPr lang="en-US" sz="800" dirty="0"/>
              <a:t>87.8920	926986	0	clade	33154	      </a:t>
            </a:r>
            <a:r>
              <a:rPr lang="en-US" sz="800" dirty="0" err="1"/>
              <a:t>Opisthokonta</a:t>
            </a:r>
            <a:endParaRPr lang="en-US" sz="800" dirty="0"/>
          </a:p>
          <a:p>
            <a:r>
              <a:rPr lang="en-US" sz="800" dirty="0"/>
              <a:t>87.8920	926986	0	kingdom	33208	        Metazoa</a:t>
            </a:r>
          </a:p>
          <a:p>
            <a:r>
              <a:rPr lang="en-US" sz="800" dirty="0"/>
              <a:t>87.8920	926986	0	clade	6072	          Eumetazoa</a:t>
            </a:r>
          </a:p>
          <a:p>
            <a:r>
              <a:rPr lang="en-US" sz="800" dirty="0"/>
              <a:t>87.8920	926986	0	clade	33213	            Bilateria</a:t>
            </a:r>
          </a:p>
          <a:p>
            <a:r>
              <a:rPr lang="en-US" sz="800" dirty="0"/>
              <a:t>87.8920	926986	0	clade	33511	              Deuterostomia</a:t>
            </a:r>
          </a:p>
          <a:p>
            <a:r>
              <a:rPr lang="en-US" sz="800" dirty="0"/>
              <a:t>87.8920	926986	0	phylum	7711	                Chordata</a:t>
            </a:r>
          </a:p>
          <a:p>
            <a:r>
              <a:rPr lang="en-US" sz="800" dirty="0"/>
              <a:t>87.8920	926986	0	subphylum	89593	                  </a:t>
            </a:r>
            <a:r>
              <a:rPr lang="en-US" sz="800" dirty="0" err="1"/>
              <a:t>Craniata</a:t>
            </a:r>
            <a:endParaRPr lang="en-US" sz="800" dirty="0"/>
          </a:p>
          <a:p>
            <a:r>
              <a:rPr lang="en-US" sz="800" dirty="0"/>
              <a:t>87.8920	926986	0	clade	7742	                    Vertebrata</a:t>
            </a:r>
          </a:p>
          <a:p>
            <a:r>
              <a:rPr lang="en-US" sz="800" dirty="0"/>
              <a:t>87.8920	926986	57	clade	7776	                      Gnathostomata</a:t>
            </a:r>
          </a:p>
          <a:p>
            <a:r>
              <a:rPr lang="en-US" sz="800" dirty="0"/>
              <a:t>87.8858	926921	0	clade	117570	                        </a:t>
            </a:r>
            <a:r>
              <a:rPr lang="en-US" sz="800" dirty="0" err="1"/>
              <a:t>Teleostomi</a:t>
            </a:r>
            <a:endParaRPr lang="en-US" sz="800" dirty="0"/>
          </a:p>
          <a:p>
            <a:r>
              <a:rPr lang="en-US" sz="800" dirty="0"/>
              <a:t>87.8858	926921	4105	clade	117571	                          </a:t>
            </a:r>
            <a:r>
              <a:rPr lang="en-US" sz="800" dirty="0" err="1"/>
              <a:t>Euteleostomi</a:t>
            </a:r>
            <a:endParaRPr lang="en-US" sz="800" dirty="0"/>
          </a:p>
          <a:p>
            <a:r>
              <a:rPr lang="en-US" sz="800" dirty="0"/>
              <a:t>87.4173	921980	0	superclass	8287	                            Sarcopterygii</a:t>
            </a:r>
          </a:p>
          <a:p>
            <a:r>
              <a:rPr lang="en-US" sz="800" dirty="0"/>
              <a:t>87.4173	921980	0	clade	1338369	                              </a:t>
            </a:r>
            <a:r>
              <a:rPr lang="en-US" sz="800" dirty="0" err="1"/>
              <a:t>Dipnotetrapodomorpha</a:t>
            </a:r>
            <a:endParaRPr lang="en-US" sz="800" dirty="0"/>
          </a:p>
          <a:p>
            <a:r>
              <a:rPr lang="en-US" sz="800" dirty="0"/>
              <a:t>87.4173	921980	35	clade	32523	                                Tetrapoda</a:t>
            </a:r>
          </a:p>
          <a:p>
            <a:r>
              <a:rPr lang="en-US" sz="800" dirty="0"/>
              <a:t>87.3845	921634	1158	clade	32524	                                  </a:t>
            </a:r>
            <a:r>
              <a:rPr lang="en-US" sz="800" dirty="0" err="1"/>
              <a:t>Amniota</a:t>
            </a:r>
            <a:endParaRPr lang="en-US" sz="800" dirty="0"/>
          </a:p>
          <a:p>
            <a:r>
              <a:rPr lang="en-US" sz="800" dirty="0"/>
              <a:t>84.9335	895783	0	clade	8457	                                    </a:t>
            </a:r>
            <a:r>
              <a:rPr lang="en-US" sz="800" dirty="0" err="1"/>
              <a:t>Sauropsida</a:t>
            </a:r>
            <a:endParaRPr lang="en-US" sz="800" dirty="0"/>
          </a:p>
          <a:p>
            <a:r>
              <a:rPr lang="en-US" sz="800" dirty="0"/>
              <a:t>84.9335	895783	59	clade	32561	                                      Sauria</a:t>
            </a:r>
          </a:p>
          <a:p>
            <a:r>
              <a:rPr lang="en-US" sz="800" dirty="0"/>
              <a:t>84.9243	895686	5	clade	1329799	                                        </a:t>
            </a:r>
            <a:r>
              <a:rPr lang="en-US" sz="800" dirty="0" err="1"/>
              <a:t>Archelosauria</a:t>
            </a:r>
            <a:endParaRPr lang="en-US" sz="800" dirty="0"/>
          </a:p>
          <a:p>
            <a:r>
              <a:rPr lang="en-US" sz="800" dirty="0"/>
              <a:t>84.9236	895679	1	clade	8492	                                          Archosauria</a:t>
            </a:r>
          </a:p>
          <a:p>
            <a:r>
              <a:rPr lang="en-US" sz="800" dirty="0"/>
              <a:t>84.9235	895678	0	clade	436486	                                            Dinosauria</a:t>
            </a:r>
          </a:p>
          <a:p>
            <a:r>
              <a:rPr lang="en-US" sz="800" dirty="0"/>
              <a:t>84.9235	895678	0	clade	436489	                                              </a:t>
            </a:r>
            <a:r>
              <a:rPr lang="en-US" sz="800" dirty="0" err="1"/>
              <a:t>Saurischia</a:t>
            </a:r>
            <a:endParaRPr lang="en-US" sz="800" dirty="0"/>
          </a:p>
          <a:p>
            <a:r>
              <a:rPr lang="en-US" sz="800" dirty="0"/>
              <a:t>84.9235	895678	0	clade	436491	                                                Theropoda</a:t>
            </a:r>
          </a:p>
          <a:p>
            <a:r>
              <a:rPr lang="en-US" sz="800" dirty="0"/>
              <a:t>84.9235	895678	0	clade	436492	                                                  Coelurosauria</a:t>
            </a:r>
          </a:p>
          <a:p>
            <a:r>
              <a:rPr lang="en-US" sz="800" dirty="0"/>
              <a:t>84.9235	895678	11	class	8782	                                                    Aves</a:t>
            </a:r>
          </a:p>
          <a:p>
            <a:r>
              <a:rPr lang="en-US" sz="800" dirty="0"/>
              <a:t>84.9225	895667	4098	infraclass	8825	                                                      Neognathae</a:t>
            </a:r>
          </a:p>
          <a:p>
            <a:r>
              <a:rPr lang="en-US" sz="800" dirty="0"/>
              <a:t>84.4484	890667	1070	clade	3078114	                                                        </a:t>
            </a:r>
            <a:r>
              <a:rPr lang="en-US" sz="800" dirty="0" err="1"/>
              <a:t>Neoaves</a:t>
            </a:r>
            <a:endParaRPr lang="en-US" sz="800" dirty="0"/>
          </a:p>
          <a:p>
            <a:r>
              <a:rPr lang="en-US" sz="800" dirty="0"/>
              <a:t>84.2767	888856	327	clade	3073808	                                                          </a:t>
            </a:r>
            <a:r>
              <a:rPr lang="en-US" sz="800" dirty="0" err="1"/>
              <a:t>Telluraves</a:t>
            </a:r>
            <a:endParaRPr lang="en-US" sz="800" dirty="0"/>
          </a:p>
          <a:p>
            <a:r>
              <a:rPr lang="en-US" sz="800" dirty="0"/>
              <a:t>84.2333	888399	157	clade	3073809	                                                            </a:t>
            </a:r>
            <a:r>
              <a:rPr lang="en-US" sz="800" dirty="0" err="1"/>
              <a:t>Australaves</a:t>
            </a:r>
            <a:endParaRPr lang="en-US" sz="800" dirty="0"/>
          </a:p>
          <a:p>
            <a:r>
              <a:rPr lang="en-US" sz="800" dirty="0"/>
              <a:t>84.1960	888005	13178	order	9126	                                                              Passeriformes</a:t>
            </a:r>
          </a:p>
          <a:p>
            <a:r>
              <a:rPr lang="en-US" sz="800" dirty="0"/>
              <a:t>66.9637	706258	2379	superfamily	175121	                                                                </a:t>
            </a:r>
            <a:r>
              <a:rPr lang="en-US" sz="800" dirty="0" err="1"/>
              <a:t>Passeroidea</a:t>
            </a:r>
            <a:endParaRPr lang="en-US" sz="800" dirty="0"/>
          </a:p>
          <a:p>
            <a:r>
              <a:rPr lang="en-US" sz="1050" b="1" dirty="0">
                <a:solidFill>
                  <a:srgbClr val="C00000"/>
                </a:solidFill>
              </a:rPr>
              <a:t>66.5754	702163	79	family	9158	                                                                  Passeridae</a:t>
            </a:r>
          </a:p>
          <a:p>
            <a:r>
              <a:rPr lang="en-US" sz="1050" b="1" dirty="0">
                <a:solidFill>
                  <a:srgbClr val="C00000"/>
                </a:solidFill>
              </a:rPr>
              <a:t>66.5469	701862	699528	genus	9159	                                                                    Passer</a:t>
            </a:r>
          </a:p>
          <a:p>
            <a:r>
              <a:rPr lang="en-US" sz="1050" b="1" dirty="0">
                <a:solidFill>
                  <a:srgbClr val="C00000"/>
                </a:solidFill>
              </a:rPr>
              <a:t>0.0597	630	630	species	48849	                                                                      Passer </a:t>
            </a:r>
            <a:r>
              <a:rPr lang="en-US" sz="1050" b="1" dirty="0" err="1">
                <a:solidFill>
                  <a:srgbClr val="C00000"/>
                </a:solidFill>
              </a:rPr>
              <a:t>domesticus</a:t>
            </a:r>
            <a:endParaRPr lang="en-US" sz="1050" b="1" dirty="0">
              <a:solidFill>
                <a:srgbClr val="C00000"/>
              </a:solidFill>
            </a:endParaRPr>
          </a:p>
          <a:p>
            <a:r>
              <a:rPr lang="en-US" sz="1050" b="1" dirty="0">
                <a:solidFill>
                  <a:srgbClr val="C00000"/>
                </a:solidFill>
              </a:rPr>
              <a:t>0.0561	592	592	species	56115	                                                                      Passer </a:t>
            </a:r>
            <a:r>
              <a:rPr lang="en-US" sz="1050" b="1" dirty="0" err="1">
                <a:solidFill>
                  <a:srgbClr val="C00000"/>
                </a:solidFill>
              </a:rPr>
              <a:t>hispaniolensis</a:t>
            </a:r>
            <a:endParaRPr lang="en-US" sz="1050" b="1" dirty="0">
              <a:solidFill>
                <a:srgbClr val="C00000"/>
              </a:solidFill>
            </a:endParaRPr>
          </a:p>
          <a:p>
            <a:r>
              <a:rPr lang="en-US" sz="1050" b="1" dirty="0">
                <a:solidFill>
                  <a:srgbClr val="C00000"/>
                </a:solidFill>
              </a:rPr>
              <a:t>0.0450	475	475	species	150919	                                                                      Passer simplex</a:t>
            </a:r>
          </a:p>
          <a:p>
            <a:r>
              <a:rPr lang="en-US" sz="1050" b="1" dirty="0">
                <a:solidFill>
                  <a:srgbClr val="C00000"/>
                </a:solidFill>
              </a:rPr>
              <a:t>0.0323	341	341	species	9160	                                                                      Passer montanus</a:t>
            </a:r>
          </a:p>
          <a:p>
            <a:r>
              <a:rPr lang="en-US" sz="800" dirty="0"/>
              <a:t>0.0073	77	77	species	498210	                                                                      Passer </a:t>
            </a:r>
            <a:r>
              <a:rPr lang="en-US" sz="800" dirty="0" err="1"/>
              <a:t>moabiticus</a:t>
            </a:r>
            <a:endParaRPr lang="en-US" sz="800" dirty="0"/>
          </a:p>
          <a:p>
            <a:r>
              <a:rPr lang="en-US" sz="800" dirty="0"/>
              <a:t>0.0056	59	59	species	150918	                                                                      Passer </a:t>
            </a:r>
            <a:r>
              <a:rPr lang="en-US" sz="800" dirty="0" err="1"/>
              <a:t>rutilans</a:t>
            </a:r>
            <a:endParaRPr lang="en-US" sz="800" dirty="0"/>
          </a:p>
          <a:p>
            <a:r>
              <a:rPr lang="en-US" sz="800" dirty="0"/>
              <a:t>0.0032	34	34	species	1069440	                                                                      Passer </a:t>
            </a:r>
            <a:r>
              <a:rPr lang="en-US" sz="800" dirty="0" err="1"/>
              <a:t>italiae</a:t>
            </a:r>
            <a:endParaRPr lang="en-US" sz="800" dirty="0"/>
          </a:p>
          <a:p>
            <a:r>
              <a:rPr lang="en-US" sz="800" dirty="0"/>
              <a:t>0.0029	31	31	species	58821	                                                                      Passer luteus</a:t>
            </a:r>
          </a:p>
          <a:p>
            <a:r>
              <a:rPr lang="en-US" sz="800" dirty="0"/>
              <a:t>0.0021	22	22	species	1930199	                                                                      Passer </a:t>
            </a:r>
            <a:r>
              <a:rPr lang="en-US" sz="800" dirty="0" err="1"/>
              <a:t>iagoensis</a:t>
            </a:r>
            <a:endParaRPr lang="en-US" sz="800" dirty="0"/>
          </a:p>
          <a:p>
            <a:r>
              <a:rPr lang="en-US" sz="800" dirty="0"/>
              <a:t>0.0018	19	19	species	150917	                                                                      Passer melanurus</a:t>
            </a:r>
          </a:p>
          <a:p>
            <a:r>
              <a:rPr lang="en-US" sz="800" dirty="0"/>
              <a:t>0.0018	19	19	species	150914	                                                                      Passer </a:t>
            </a:r>
            <a:r>
              <a:rPr lang="en-US" sz="800" dirty="0" err="1"/>
              <a:t>ammodendri</a:t>
            </a:r>
            <a:endParaRPr lang="en-US" sz="800" dirty="0"/>
          </a:p>
          <a:p>
            <a:r>
              <a:rPr lang="en-US" sz="800" dirty="0"/>
              <a:t>0.0018	19	19	species	1117246	                                                                      Passer </a:t>
            </a:r>
            <a:r>
              <a:rPr lang="en-US" sz="800" dirty="0" err="1"/>
              <a:t>diffusus</a:t>
            </a:r>
            <a:endParaRPr lang="en-US" sz="800" dirty="0"/>
          </a:p>
          <a:p>
            <a:r>
              <a:rPr lang="en-US" sz="800" dirty="0"/>
              <a:t>0.0009	9	9	species	2796153	                                                                      Passer </a:t>
            </a:r>
            <a:r>
              <a:rPr lang="en-US" sz="800" dirty="0" err="1"/>
              <a:t>eminibey</a:t>
            </a:r>
            <a:endParaRPr lang="en-US" sz="800" dirty="0"/>
          </a:p>
          <a:p>
            <a:r>
              <a:rPr lang="en-US" sz="800" dirty="0"/>
              <a:t>0.0006	6	6	species	150915	                                                                      Passer </a:t>
            </a:r>
            <a:r>
              <a:rPr lang="en-US" sz="800" dirty="0" err="1"/>
              <a:t>flaveolus</a:t>
            </a:r>
            <a:endParaRPr lang="en-US" sz="800" dirty="0"/>
          </a:p>
          <a:p>
            <a:r>
              <a:rPr lang="en-US" sz="800" dirty="0"/>
              <a:t>0.0001	1	1	species	150916	                                                                      Passer griseus</a:t>
            </a:r>
          </a:p>
          <a:p>
            <a:r>
              <a:rPr lang="en-US" sz="800" dirty="0"/>
              <a:t>0.0090	95	17	genus	667179	                                                                    </a:t>
            </a:r>
            <a:r>
              <a:rPr lang="en-US" sz="800" dirty="0" err="1"/>
              <a:t>Pyrgilauda</a:t>
            </a:r>
            <a:endParaRPr lang="en-US" sz="800" dirty="0"/>
          </a:p>
          <a:p>
            <a:r>
              <a:rPr lang="en-US" sz="800" dirty="0"/>
              <a:t>0.0064	67	67	species	1477527	                                                                      </a:t>
            </a:r>
            <a:r>
              <a:rPr lang="en-US" sz="800" dirty="0" err="1"/>
              <a:t>Pyrgilauda</a:t>
            </a:r>
            <a:r>
              <a:rPr lang="en-US" sz="800" dirty="0"/>
              <a:t> </a:t>
            </a:r>
            <a:r>
              <a:rPr lang="en-US" sz="800" dirty="0" err="1"/>
              <a:t>davidiana</a:t>
            </a:r>
            <a:endParaRPr lang="en-US" sz="800" dirty="0"/>
          </a:p>
          <a:p>
            <a:r>
              <a:rPr lang="en-US" sz="800" dirty="0"/>
              <a:t>0.0006	6	6	species	667180	                                                                      </a:t>
            </a:r>
            <a:r>
              <a:rPr lang="en-US" sz="800" dirty="0" err="1"/>
              <a:t>Pyrgilauda</a:t>
            </a:r>
            <a:r>
              <a:rPr lang="en-US" sz="800" dirty="0"/>
              <a:t> </a:t>
            </a:r>
            <a:r>
              <a:rPr lang="en-US" sz="800" dirty="0" err="1"/>
              <a:t>blanfordi</a:t>
            </a:r>
            <a:endParaRPr lang="en-US" sz="800" dirty="0"/>
          </a:p>
          <a:p>
            <a:r>
              <a:rPr lang="en-US" sz="800" dirty="0"/>
              <a:t>0.0005	5	5	species	221976	                                                                      </a:t>
            </a:r>
            <a:r>
              <a:rPr lang="en-US" sz="800" dirty="0" err="1"/>
              <a:t>Pyrgilauda</a:t>
            </a:r>
            <a:r>
              <a:rPr lang="en-US" sz="800" dirty="0"/>
              <a:t> ruficollis</a:t>
            </a:r>
          </a:p>
          <a:p>
            <a:r>
              <a:rPr lang="en-US" sz="800" dirty="0"/>
              <a:t>0.0083	88	2	genus	221975	                                                                    Montifringilla</a:t>
            </a:r>
          </a:p>
          <a:p>
            <a:r>
              <a:rPr lang="en-US" sz="800" dirty="0"/>
              <a:t>0.0067	71	71	species	356903	                                                                      Montifringilla nivalis</a:t>
            </a:r>
          </a:p>
          <a:p>
            <a:r>
              <a:rPr lang="en-US" sz="800" dirty="0"/>
              <a:t>0.0012	13	13	species	356906	                                                                      Montifringilla </a:t>
            </a:r>
            <a:r>
              <a:rPr lang="en-US" sz="800" dirty="0" err="1"/>
              <a:t>adamsi</a:t>
            </a:r>
            <a:endParaRPr lang="en-US" sz="800" dirty="0"/>
          </a:p>
          <a:p>
            <a:r>
              <a:rPr lang="en-US" sz="800" dirty="0"/>
              <a:t>0.0002	2	2	species	2557930	                                                                      Montifringilla </a:t>
            </a:r>
            <a:r>
              <a:rPr lang="en-US" sz="800" dirty="0" err="1"/>
              <a:t>henrici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1238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1EE93C-D2F6-71EF-E43E-192BE4ADB7FB}"/>
              </a:ext>
            </a:extLst>
          </p:cNvPr>
          <p:cNvSpPr txBox="1"/>
          <p:nvPr/>
        </p:nvSpPr>
        <p:spPr>
          <a:xfrm>
            <a:off x="380009" y="-498762"/>
            <a:ext cx="10830297" cy="1773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5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endParaRPr lang="en-US" dirty="0">
              <a:solidFill>
                <a:srgbClr val="000000"/>
              </a:solidFill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endParaRPr lang="en-US" dirty="0">
              <a:solidFill>
                <a:srgbClr val="000000"/>
              </a:solidFill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"Summary Statistics for Unclassified Reads (%):”</a:t>
            </a:r>
            <a:endParaRPr lang="en-US" dirty="0">
              <a:solidFill>
                <a:srgbClr val="949494"/>
              </a:solidFill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aco" pitchFamily="2" charset="77"/>
              </a:rPr>
              <a:t>n_samples</a:t>
            </a: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aco" pitchFamily="2" charset="77"/>
              </a:rPr>
              <a:t>mean_pct</a:t>
            </a: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aco" pitchFamily="2" charset="77"/>
              </a:rPr>
              <a:t>median_pct</a:t>
            </a: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aco" pitchFamily="2" charset="77"/>
              </a:rPr>
              <a:t>sd_pct</a:t>
            </a: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aco" pitchFamily="2" charset="77"/>
              </a:rPr>
              <a:t>min_pct</a:t>
            </a: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aco" pitchFamily="2" charset="77"/>
              </a:rPr>
              <a:t>max_pct</a:t>
            </a:r>
            <a:endParaRPr lang="en-US" i="1" dirty="0">
              <a:solidFill>
                <a:srgbClr val="949494"/>
              </a:solidFill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endParaRPr lang="en-US" b="0" i="1" dirty="0">
              <a:solidFill>
                <a:srgbClr val="949494"/>
              </a:solidFill>
              <a:effectLst/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Monaco" pitchFamily="2" charset="77"/>
            </a:endParaRPr>
          </a:p>
          <a:p>
            <a:pPr algn="l">
              <a:lnSpc>
                <a:spcPts val="1305"/>
              </a:lnSpc>
              <a:buNone/>
            </a:pPr>
            <a:r>
              <a:rPr lang="en-US" b="0" i="0" dirty="0">
                <a:solidFill>
                  <a:srgbClr val="BCBCBC"/>
                </a:solidFill>
                <a:effectLst/>
                <a:latin typeface="Monaco" pitchFamily="2" charset="77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Monaco" pitchFamily="2" charset="77"/>
              </a:rPr>
              <a:t>       177     63.2       68.8   32.0    1.28     100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589C8-3233-C4B0-4F74-20F1A6CE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672" y="1420090"/>
            <a:ext cx="8700656" cy="543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5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D7B7D5-8C92-8C1E-5998-0CD7CCC46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784" y="372588"/>
            <a:ext cx="8150431" cy="611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0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5E6786-F443-268E-2EF0-84C97690CDDA}"/>
              </a:ext>
            </a:extLst>
          </p:cNvPr>
          <p:cNvSpPr txBox="1"/>
          <p:nvPr/>
        </p:nvSpPr>
        <p:spPr>
          <a:xfrm>
            <a:off x="3983511" y="2475908"/>
            <a:ext cx="362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Cutoff of 3% of reads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4F452C-D74F-6A0F-2209-AAA6032B1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62537"/>
              </p:ext>
            </p:extLst>
          </p:nvPr>
        </p:nvGraphicFramePr>
        <p:xfrm>
          <a:off x="288965" y="902193"/>
          <a:ext cx="11614070" cy="853440"/>
        </p:xfrm>
        <a:graphic>
          <a:graphicData uri="http://schemas.openxmlformats.org/drawingml/2006/table">
            <a:tbl>
              <a:tblPr/>
              <a:tblGrid>
                <a:gridCol w="2322814">
                  <a:extLst>
                    <a:ext uri="{9D8B030D-6E8A-4147-A177-3AD203B41FA5}">
                      <a16:colId xmlns:a16="http://schemas.microsoft.com/office/drawing/2014/main" val="382175510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3553519881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607229947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92253105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1963053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chemeClr val="accent1"/>
                          </a:solidFill>
                          <a:effectLst/>
                        </a:rPr>
                        <a:t>mean_genera</a:t>
                      </a:r>
                      <a:endParaRPr lang="en-US" sz="18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chemeClr val="accent1"/>
                          </a:solidFill>
                          <a:effectLst/>
                        </a:rPr>
                        <a:t>sd_genera</a:t>
                      </a:r>
                      <a:endParaRPr lang="en-US" sz="18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chemeClr val="accent1"/>
                          </a:solidFill>
                          <a:effectLst/>
                        </a:rPr>
                        <a:t>min_genera</a:t>
                      </a:r>
                      <a:endParaRPr lang="en-US" sz="18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chemeClr val="accent1"/>
                          </a:solidFill>
                          <a:effectLst/>
                        </a:rPr>
                        <a:t>max_genera</a:t>
                      </a:r>
                      <a:endParaRPr lang="en-US" sz="18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chemeClr val="accent1"/>
                          </a:solidFill>
                          <a:effectLst/>
                        </a:rPr>
                        <a:t>n_samples</a:t>
                      </a:r>
                      <a:endParaRPr lang="en-US" sz="180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95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chemeClr val="accent1"/>
                          </a:solidFill>
                          <a:effectLst/>
                        </a:rPr>
                        <a:t>1.992481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  <a:effectLst/>
                        </a:rPr>
                        <a:t>1.479641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chemeClr val="accent1"/>
                          </a:solidFill>
                          <a:effectLst/>
                        </a:rPr>
                        <a:t>11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  <a:effectLst/>
                        </a:rPr>
                        <a:t>133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2951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9E9ABE8-B940-F668-7337-817B24E97695}"/>
              </a:ext>
            </a:extLst>
          </p:cNvPr>
          <p:cNvSpPr txBox="1"/>
          <p:nvPr/>
        </p:nvSpPr>
        <p:spPr>
          <a:xfrm>
            <a:off x="3983512" y="313171"/>
            <a:ext cx="362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Cutoff of 1% of reads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85DC313-D05B-A51E-C93F-4E9CE51BF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15229"/>
              </p:ext>
            </p:extLst>
          </p:nvPr>
        </p:nvGraphicFramePr>
        <p:xfrm>
          <a:off x="288965" y="2979150"/>
          <a:ext cx="11614070" cy="853440"/>
        </p:xfrm>
        <a:graphic>
          <a:graphicData uri="http://schemas.openxmlformats.org/drawingml/2006/table">
            <a:tbl>
              <a:tblPr/>
              <a:tblGrid>
                <a:gridCol w="2322814">
                  <a:extLst>
                    <a:ext uri="{9D8B030D-6E8A-4147-A177-3AD203B41FA5}">
                      <a16:colId xmlns:a16="http://schemas.microsoft.com/office/drawing/2014/main" val="2775599030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2374864482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1195023879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1222175267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1514483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mean_genera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sd_genera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min_genera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max_genera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n_samples</a:t>
                      </a:r>
                      <a:endParaRPr lang="en-US" sz="18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159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1.54717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rgbClr val="C00000"/>
                          </a:solidFill>
                          <a:effectLst/>
                        </a:rPr>
                        <a:t>0.9271778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rgbClr val="C00000"/>
                          </a:solidFill>
                          <a:effectLst/>
                        </a:rPr>
                        <a:t>6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106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4965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F9F1DE2-786C-04FD-7076-3D05D1A59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42925"/>
              </p:ext>
            </p:extLst>
          </p:nvPr>
        </p:nvGraphicFramePr>
        <p:xfrm>
          <a:off x="288965" y="5137362"/>
          <a:ext cx="11614070" cy="853440"/>
        </p:xfrm>
        <a:graphic>
          <a:graphicData uri="http://schemas.openxmlformats.org/drawingml/2006/table">
            <a:tbl>
              <a:tblPr/>
              <a:tblGrid>
                <a:gridCol w="2322814">
                  <a:extLst>
                    <a:ext uri="{9D8B030D-6E8A-4147-A177-3AD203B41FA5}">
                      <a16:colId xmlns:a16="http://schemas.microsoft.com/office/drawing/2014/main" val="3850850465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4049139255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889916565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726700647"/>
                    </a:ext>
                  </a:extLst>
                </a:gridCol>
                <a:gridCol w="2322814">
                  <a:extLst>
                    <a:ext uri="{9D8B030D-6E8A-4147-A177-3AD203B41FA5}">
                      <a16:colId xmlns:a16="http://schemas.microsoft.com/office/drawing/2014/main" val="602808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effectLst/>
                        </a:rPr>
                        <a:t>mean_genera</a:t>
                      </a:r>
                      <a:endParaRPr lang="en-US" sz="1800" dirty="0">
                        <a:solidFill>
                          <a:srgbClr val="7030A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effectLst/>
                        </a:rPr>
                        <a:t>sd_genera</a:t>
                      </a:r>
                      <a:endParaRPr lang="en-US" sz="1800" dirty="0">
                        <a:solidFill>
                          <a:srgbClr val="7030A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effectLst/>
                        </a:rPr>
                        <a:t>min_genera</a:t>
                      </a:r>
                      <a:endParaRPr lang="en-US" sz="1800" dirty="0">
                        <a:solidFill>
                          <a:srgbClr val="7030A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effectLst/>
                        </a:rPr>
                        <a:t>max_genera</a:t>
                      </a:r>
                      <a:endParaRPr lang="en-US" sz="1800" dirty="0">
                        <a:solidFill>
                          <a:srgbClr val="7030A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800" dirty="0" err="1">
                          <a:solidFill>
                            <a:srgbClr val="7030A0"/>
                          </a:solidFill>
                          <a:effectLst/>
                        </a:rPr>
                        <a:t>n_samples</a:t>
                      </a:r>
                      <a:endParaRPr lang="en-US" sz="1800" dirty="0">
                        <a:solidFill>
                          <a:srgbClr val="7030A0"/>
                        </a:solidFill>
                        <a:effectLst/>
                      </a:endParaRPr>
                    </a:p>
                    <a:p>
                      <a:pPr algn="r" fontAlgn="t">
                        <a:buNone/>
                      </a:pPr>
                      <a:endParaRPr lang="en-US" sz="1800" b="0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7150" marR="57150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67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  <a:effectLst/>
                        </a:rPr>
                        <a:t>1.3125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  <a:effectLst/>
                        </a:rPr>
                        <a:t>0.6037166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  <a:effectLst/>
                        </a:rPr>
                        <a:t>1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  <a:effectLst/>
                        </a:rPr>
                        <a:t>4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ts val="1305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7030A0"/>
                          </a:solidFill>
                          <a:effectLst/>
                        </a:rPr>
                        <a:t>96</a:t>
                      </a:r>
                    </a:p>
                  </a:txBody>
                  <a:tcPr marL="57150" marR="5715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130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EFF6474-B24E-0573-8916-9E8E6023D9A2}"/>
              </a:ext>
            </a:extLst>
          </p:cNvPr>
          <p:cNvSpPr txBox="1"/>
          <p:nvPr/>
        </p:nvSpPr>
        <p:spPr>
          <a:xfrm>
            <a:off x="3983512" y="4552866"/>
            <a:ext cx="362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Cutoff of 5% of reads</a:t>
            </a:r>
          </a:p>
        </p:txBody>
      </p:sp>
    </p:spTree>
    <p:extLst>
      <p:ext uri="{BB962C8B-B14F-4D97-AF65-F5344CB8AC3E}">
        <p14:creationId xmlns:p14="http://schemas.microsoft.com/office/powerpoint/2010/main" val="84547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BE385EB-3579-B59E-56D1-3804285A9D1D}"/>
              </a:ext>
            </a:extLst>
          </p:cNvPr>
          <p:cNvSpPr txBox="1"/>
          <p:nvPr/>
        </p:nvSpPr>
        <p:spPr>
          <a:xfrm>
            <a:off x="0" y="91335"/>
            <a:ext cx="12073247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 Genus         		N 	Mean %  	Mean Rank Mean N. Reads	Mean N Genera	Mean Unclassified (%)	% Top Hit (excl. 												                     Homo)</a:t>
            </a:r>
          </a:p>
          <a:p>
            <a:endParaRPr lang="en-US" sz="1400" dirty="0"/>
          </a:p>
          <a:p>
            <a:r>
              <a:rPr lang="en-US" sz="1400" dirty="0"/>
              <a:t> 1 Homo                   	65	17.3 	1.37           	636291             	2.3                    	56.4                      	0  </a:t>
            </a:r>
          </a:p>
          <a:p>
            <a:r>
              <a:rPr lang="en-US" sz="1400" dirty="0"/>
              <a:t> 2 Ovis                   	45             	30.4             	1.82           	965296             	2.3                    	43.5                     	66.7</a:t>
            </a:r>
          </a:p>
          <a:p>
            <a:r>
              <a:rPr lang="en-US" sz="1400" dirty="0"/>
              <a:t> 3 Sus                    	24             	19.1             	1.96           	620148             	2.7                    	47.6                     	75  </a:t>
            </a:r>
          </a:p>
          <a:p>
            <a:r>
              <a:rPr lang="en-US" sz="1400" dirty="0"/>
              <a:t> 4 Passer                 	18             	22.8             	2.33           	529443             	3.6                    	39.4                     	55.6</a:t>
            </a:r>
          </a:p>
          <a:p>
            <a:r>
              <a:rPr lang="en-US" sz="1400" dirty="0"/>
              <a:t> 5 </a:t>
            </a:r>
            <a:r>
              <a:rPr lang="en-US" sz="1400" dirty="0" err="1"/>
              <a:t>Ptilotula</a:t>
            </a:r>
            <a:r>
              <a:rPr lang="en-US" sz="1400" dirty="0"/>
              <a:t>              	17            	26               	1.94           	749781             	3.1                    	36.7                     	58.8</a:t>
            </a:r>
          </a:p>
          <a:p>
            <a:r>
              <a:rPr lang="en-US" sz="1400" dirty="0"/>
              <a:t> 6 </a:t>
            </a:r>
            <a:r>
              <a:rPr lang="en-US" sz="1400" dirty="0" err="1"/>
              <a:t>Stomiopera</a:t>
            </a:r>
            <a:r>
              <a:rPr lang="en-US" sz="1400" dirty="0"/>
              <a:t>            	11             	30.6             	1.64          	1518496             	2                      		52.7                     	81.8</a:t>
            </a:r>
          </a:p>
          <a:p>
            <a:r>
              <a:rPr lang="en-US" sz="1400" dirty="0"/>
              <a:t> 7 </a:t>
            </a:r>
            <a:r>
              <a:rPr lang="en-US" sz="1400" dirty="0" err="1"/>
              <a:t>Gymnorhina</a:t>
            </a:r>
            <a:r>
              <a:rPr lang="en-US" sz="1400" dirty="0"/>
              <a:t>              	7             	10.6             	2.29           	505033             	3                      		60.2                     	71.4</a:t>
            </a:r>
          </a:p>
          <a:p>
            <a:r>
              <a:rPr lang="en-US" sz="1400" dirty="0"/>
              <a:t> 8 </a:t>
            </a:r>
            <a:r>
              <a:rPr lang="en-US" sz="1400" dirty="0" err="1"/>
              <a:t>Anthochaera</a:t>
            </a:r>
            <a:r>
              <a:rPr lang="en-US" sz="1400" dirty="0"/>
              <a:t>             	6             	15.9             	2.5            	415039             	3.3                    	36.3                     	33.3</a:t>
            </a:r>
          </a:p>
          <a:p>
            <a:r>
              <a:rPr lang="en-US" sz="1400" dirty="0"/>
              <a:t> 9 Vulpes                  	5             	58               	1.2           	1055651             	1.4                    	34.6                     	80  </a:t>
            </a:r>
          </a:p>
          <a:p>
            <a:r>
              <a:rPr lang="en-US" sz="1400" dirty="0"/>
              <a:t>10 </a:t>
            </a:r>
            <a:r>
              <a:rPr lang="en-US" sz="1400" dirty="0" err="1"/>
              <a:t>Nycticorax</a:t>
            </a:r>
            <a:r>
              <a:rPr lang="en-US" sz="1400" dirty="0"/>
              <a:t>              	4              	6.7             	2              	268402             	2.5                    	72.2                     	50  </a:t>
            </a:r>
          </a:p>
          <a:p>
            <a:r>
              <a:rPr lang="en-US" sz="1400" dirty="0"/>
              <a:t>11 </a:t>
            </a:r>
            <a:r>
              <a:rPr lang="en-US" sz="1400" dirty="0" err="1"/>
              <a:t>Corcorax</a:t>
            </a:r>
            <a:r>
              <a:rPr lang="en-US" sz="1400" dirty="0"/>
              <a:t>                	3             	58.9            	1             	1997550             	1                      		29.7                    	100  </a:t>
            </a:r>
          </a:p>
          <a:p>
            <a:r>
              <a:rPr lang="en-US" sz="1400" dirty="0"/>
              <a:t>12 </a:t>
            </a:r>
            <a:r>
              <a:rPr lang="en-US" sz="1400" dirty="0" err="1"/>
              <a:t>Manorina</a:t>
            </a:r>
            <a:r>
              <a:rPr lang="en-US" sz="1400" dirty="0"/>
              <a:t>                	3             	54.9             	1.33          	2486128             	1.7                    	35.3                    	100  </a:t>
            </a:r>
          </a:p>
          <a:p>
            <a:r>
              <a:rPr lang="en-US" sz="1400" dirty="0"/>
              <a:t>13 </a:t>
            </a:r>
            <a:r>
              <a:rPr lang="en-US" sz="1400" dirty="0" err="1"/>
              <a:t>Trichosurus</a:t>
            </a:r>
            <a:r>
              <a:rPr lang="en-US" sz="1400" dirty="0"/>
              <a:t>             	3             	18.7             	2.67           	608537             	3.3                    	38.9                     	33.3</a:t>
            </a:r>
          </a:p>
          <a:p>
            <a:r>
              <a:rPr lang="en-US" sz="1400" dirty="0"/>
              <a:t>14 </a:t>
            </a:r>
            <a:r>
              <a:rPr lang="en-US" sz="1400" dirty="0" err="1"/>
              <a:t>Wallabia</a:t>
            </a:r>
            <a:r>
              <a:rPr lang="en-US" sz="1400" dirty="0"/>
              <a:t>                	3             	41.5             	1.67          	1370932             	2.3                    	38.9                     	66.7</a:t>
            </a:r>
          </a:p>
          <a:p>
            <a:r>
              <a:rPr lang="en-US" sz="1400" dirty="0"/>
              <a:t>15 Galaxias                	2              	3.2             	3.5            	108582             	3.5                    	56.5                     	50  </a:t>
            </a:r>
          </a:p>
          <a:p>
            <a:r>
              <a:rPr lang="en-US" sz="1400" dirty="0"/>
              <a:t>16 Cacatua                 	1             	42.1            	1             	1199855             	2                      		49.7                    	100  </a:t>
            </a:r>
          </a:p>
          <a:p>
            <a:r>
              <a:rPr lang="en-US" sz="1400" dirty="0"/>
              <a:t>17 </a:t>
            </a:r>
            <a:r>
              <a:rPr lang="en-US" sz="1400" dirty="0" err="1"/>
              <a:t>Copsychus</a:t>
            </a:r>
            <a:r>
              <a:rPr lang="en-US" sz="1400" dirty="0"/>
              <a:t>               	1              	3.1             	2              	168996             	2                       	9.4                      	0  </a:t>
            </a:r>
          </a:p>
          <a:p>
            <a:r>
              <a:rPr lang="en-US" sz="1400" dirty="0"/>
              <a:t>18 Egretta                 	1             	36.5            	5                    	1905612             	2                      		46.6                    	100  </a:t>
            </a:r>
          </a:p>
          <a:p>
            <a:r>
              <a:rPr lang="en-US" sz="1400" dirty="0"/>
              <a:t>19 </a:t>
            </a:r>
            <a:r>
              <a:rPr lang="en-US" sz="1400" dirty="0" err="1"/>
              <a:t>Eolophus</a:t>
            </a:r>
            <a:r>
              <a:rPr lang="en-US" sz="1400" dirty="0"/>
              <a:t>                	1             	10              	2              	510269             	4                      		50                        	0  </a:t>
            </a:r>
          </a:p>
          <a:p>
            <a:r>
              <a:rPr lang="en-US" sz="1400" dirty="0"/>
              <a:t>20 </a:t>
            </a:r>
            <a:r>
              <a:rPr lang="en-US" sz="1400" dirty="0" err="1"/>
              <a:t>Epthianura</a:t>
            </a:r>
            <a:r>
              <a:rPr lang="en-US" sz="1400" dirty="0"/>
              <a:t>              	1             	10.1            	2              	106919             	3                      		12.1                     	 0  </a:t>
            </a:r>
          </a:p>
          <a:p>
            <a:r>
              <a:rPr lang="en-US" sz="1400" dirty="0"/>
              <a:t>21 Falco                   	1             	25.1            	1               	48434             	1                      		69.8                    	100  </a:t>
            </a:r>
          </a:p>
          <a:p>
            <a:r>
              <a:rPr lang="en-US" sz="1400" dirty="0"/>
              <a:t>22 Macropus                	1              	5.1             	2              	267950             	2                      		45.5                    	100  </a:t>
            </a:r>
          </a:p>
          <a:p>
            <a:r>
              <a:rPr lang="en-US" sz="1400" dirty="0"/>
              <a:t>23 Penelope                	1              	4.3             	2              	226944             	2                      		46.6                     	 0  </a:t>
            </a:r>
          </a:p>
          <a:p>
            <a:r>
              <a:rPr lang="en-US" sz="1400" dirty="0"/>
              <a:t>24 Phalacrocorax           	1              	5.2             	3              	212199             	6                      		23.1                      	0  </a:t>
            </a:r>
          </a:p>
          <a:p>
            <a:r>
              <a:rPr lang="en-US" sz="1400" dirty="0"/>
              <a:t>25 Pomatostomus            1              	8.2             	2              	424384             	2                      		38.2                      	0 </a:t>
            </a:r>
          </a:p>
        </p:txBody>
      </p:sp>
    </p:spTree>
    <p:extLst>
      <p:ext uri="{BB962C8B-B14F-4D97-AF65-F5344CB8AC3E}">
        <p14:creationId xmlns:p14="http://schemas.microsoft.com/office/powerpoint/2010/main" val="62876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4CD5B-03F1-D072-4627-8EFFE9541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685800"/>
            <a:ext cx="73152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77E3F-8421-1929-AFE9-89C88C2B5E5B}"/>
              </a:ext>
            </a:extLst>
          </p:cNvPr>
          <p:cNvSpPr txBox="1"/>
          <p:nvPr/>
        </p:nvSpPr>
        <p:spPr>
          <a:xfrm>
            <a:off x="4358244" y="166255"/>
            <a:ext cx="524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Percentage reads cutoff of 3%</a:t>
            </a:r>
          </a:p>
        </p:txBody>
      </p:sp>
    </p:spTree>
    <p:extLst>
      <p:ext uri="{BB962C8B-B14F-4D97-AF65-F5344CB8AC3E}">
        <p14:creationId xmlns:p14="http://schemas.microsoft.com/office/powerpoint/2010/main" val="6028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7718E4-2EDC-8DDF-E7A7-C54B0910A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14" y="277586"/>
            <a:ext cx="8403771" cy="630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9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6613</TotalTime>
  <Words>1341</Words>
  <Application>Microsoft Macintosh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Monaco</vt:lpstr>
      <vt:lpstr>Office Theme</vt:lpstr>
      <vt:lpstr>Key decisions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Moore</dc:creator>
  <cp:lastModifiedBy>Kevin Moore</cp:lastModifiedBy>
  <cp:revision>1</cp:revision>
  <dcterms:created xsi:type="dcterms:W3CDTF">2026-03-25T09:24:47Z</dcterms:created>
  <dcterms:modified xsi:type="dcterms:W3CDTF">2026-03-29T23:37:56Z</dcterms:modified>
</cp:coreProperties>
</file>